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dcodish/SAD-sample-projec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Analysis to Running CRUD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System with Claude Code</a:t>
            </a:r>
            <a:br/>
            <a:br/>
            <a:r>
              <a:rPr/>
              <a:t>Software Analysis and Design — BGU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class:</a:t>
            </a:r>
          </a:p>
          <a:p>
            <a:pPr lvl="0"/>
            <a:r>
              <a:rPr/>
              <a:t>A working SQL Server database for your project, populated with realistic test data</a:t>
            </a:r>
          </a:p>
          <a:p>
            <a:pPr lvl="0"/>
            <a:r>
              <a:rPr/>
              <a:t>A C# WinForms project running on your machine</a:t>
            </a:r>
          </a:p>
          <a:p>
            <a:pPr lvl="0"/>
            <a:r>
              <a:rPr/>
              <a:t>2–3 CRUD screens connected to the database</a:t>
            </a:r>
          </a:p>
          <a:p>
            <a:pPr lvl="0"/>
            <a:r>
              <a:rPr/>
              <a:t>A login screen that routes users by role</a:t>
            </a:r>
          </a:p>
          <a:p>
            <a:pPr lvl="0"/>
            <a:r>
              <a:rPr/>
              <a:t>Everything driven from Claude Code, end to end</a:t>
            </a:r>
          </a:p>
          <a:p>
            <a:pPr lvl="0" indent="0" marL="0">
              <a:buNone/>
            </a:pPr>
            <a:r>
              <a:rPr/>
              <a:t>You bring: your group’s Part A + Part B analysis, a laptop with the prerequisites installed.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Picture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class?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setup + MCP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Extract analysis to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Generate your CLAUDE.md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Database schema + stored procedures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Seed test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C# scaffold + entry flow + first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Remaining CRUD panels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machines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if 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8–11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Reports, complex flows, UI polish, shared 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Homework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Things Drive This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Stay in Claude Code.</a:t>
            </a:r>
            <a:r>
              <a:rPr/>
              <a:t> Almost everything goes through one tool — file edits, SQL, builds, tests. No bouncing between SSMS, terminal, browser.</a:t>
            </a:r>
          </a:p>
          <a:p>
            <a:pPr lvl="0" indent="0" marL="0">
              <a:buNone/>
            </a:pPr>
            <a:r>
              <a:rPr b="1"/>
              <a:t>2. Markdown and </a:t>
            </a:r>
            <a:r>
              <a:rPr b="1">
                <a:latin typeface="Courier"/>
              </a:rPr>
              <a:t>.sql</a:t>
            </a:r>
            <a:r>
              <a:rPr b="1"/>
              <a:t> files are the source of truth.</a:t>
            </a:r>
            <a:r>
              <a:rPr/>
              <a:t> The database is just a cached projection of your scripts. If it’s not in a file in git, it doesn’t durably exist.</a:t>
            </a:r>
          </a:p>
          <a:p>
            <a:pPr lvl="0" indent="0" marL="0">
              <a:buNone/>
            </a:pPr>
            <a:r>
              <a:rPr b="1"/>
              <a:t>3. Review what Claude produces.</a:t>
            </a:r>
            <a:r>
              <a:rPr/>
              <a:t> Claude is fast but not careful. Skipping review now means debugging silent errors for the rest of the semester.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Prerequisites — Done Before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these don’t all succeed in a fresh terminal, you’re not ready:</a:t>
            </a:r>
          </a:p>
          <a:p>
            <a:pPr lvl="0" indent="0">
              <a:buNone/>
            </a:pPr>
            <a:r>
              <a:rPr>
                <a:latin typeface="Courier"/>
              </a:rPr>
              <a:t>dotnet </a:t>
            </a:r>
            <a:r>
              <a:rPr>
                <a:solidFill>
                  <a:srgbClr val="666666"/>
                </a:solidFill>
                <a:latin typeface="Courier"/>
              </a:rPr>
              <a:t>--</a:t>
            </a:r>
            <a:r>
              <a:rPr>
                <a:latin typeface="Courier"/>
              </a:rPr>
              <a:t>version       </a:t>
            </a:r>
            <a:r>
              <a:rPr i="1">
                <a:solidFill>
                  <a:srgbClr val="60A0B0"/>
                </a:solidFill>
                <a:latin typeface="Courier"/>
              </a:rPr>
              <a:t># 8.x</a:t>
            </a:r>
            <a:br/>
            <a:r>
              <a:rPr>
                <a:latin typeface="Courier"/>
              </a:rPr>
              <a:t>git </a:t>
            </a:r>
            <a:r>
              <a:rPr>
                <a:solidFill>
                  <a:srgbClr val="666666"/>
                </a:solidFill>
                <a:latin typeface="Courier"/>
              </a:rPr>
              <a:t>--</a:t>
            </a:r>
            <a:r>
              <a:rPr>
                <a:latin typeface="Courier"/>
              </a:rPr>
              <a:t>version</a:t>
            </a:r>
            <a:br/>
            <a:r>
              <a:rPr>
                <a:latin typeface="Courier"/>
              </a:rPr>
              <a:t>uvx </a:t>
            </a:r>
            <a:r>
              <a:rPr>
                <a:solidFill>
                  <a:srgbClr val="666666"/>
                </a:solidFill>
                <a:latin typeface="Courier"/>
              </a:rPr>
              <a:t>--</a:t>
            </a:r>
            <a:r>
              <a:rPr>
                <a:latin typeface="Courier"/>
              </a:rPr>
              <a:t>version</a:t>
            </a:r>
            <a:br/>
            <a:r>
              <a:rPr>
                <a:latin typeface="Courier"/>
              </a:rPr>
              <a:t>sqlcmd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L</a:t>
            </a:r>
          </a:p>
          <a:p>
            <a:pPr lvl="0" indent="0" marL="0">
              <a:buNone/>
            </a:pPr>
            <a:r>
              <a:rPr/>
              <a:t>Plus: Claude Code extension signed in (Pro/Max subscription), VS 2025 open, SSMS connects to local SQL Server.</a:t>
            </a:r>
          </a:p>
          <a:p>
            <a:pPr lvl="0" indent="0" marL="0">
              <a:buNone/>
            </a:pPr>
            <a:r>
              <a:rPr/>
              <a:t>Full details in </a:t>
            </a:r>
            <a:r>
              <a:rPr b="1">
                <a:latin typeface="Courier"/>
              </a:rPr>
              <a:t>PREREQS.md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— Project Setup (10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Manual:</a:t>
            </a:r>
          </a:p>
          <a:p>
            <a:pPr lvl="0"/>
            <a:r>
              <a:rPr/>
              <a:t>Create your project folder + put PDFs in </a:t>
            </a:r>
            <a:r>
              <a:rPr>
                <a:latin typeface="Courier"/>
              </a:rPr>
              <a:t>docs/</a:t>
            </a:r>
          </a:p>
          <a:p>
            <a:pPr lvl="0"/>
            <a:r>
              <a:rPr/>
              <a:t>Clone the sample: </a:t>
            </a:r>
            <a:r>
              <a:rPr>
                <a:latin typeface="Courier"/>
              </a:rPr>
              <a:t>git clone … cloned</a:t>
            </a:r>
          </a:p>
          <a:p>
            <a:pPr lvl="0"/>
            <a:r>
              <a:rPr>
                <a:latin typeface="Courier"/>
              </a:rPr>
              <a:t>.gitignore</a:t>
            </a:r>
            <a:r>
              <a:rPr/>
              <a:t> → </a:t>
            </a:r>
            <a:r>
              <a:rPr>
                <a:latin typeface="Courier"/>
              </a:rPr>
              <a:t>cloned/</a:t>
            </a:r>
            <a:r>
              <a:rPr/>
              <a:t> + </a:t>
            </a:r>
            <a:r>
              <a:rPr>
                <a:latin typeface="Courier"/>
              </a:rPr>
              <a:t>.mcp.json</a:t>
            </a:r>
          </a:p>
          <a:p>
            <a:pPr lvl="0" indent="0" marL="0">
              <a:buNone/>
            </a:pPr>
            <a:r>
              <a:rPr/>
              <a:t>In Claude Code: paste the </a:t>
            </a:r>
            <a:r>
              <a:rPr b="1"/>
              <a:t>MCP install prompt</a:t>
            </a:r>
            <a:r>
              <a:rPr/>
              <a:t> (in cheat sheet).</a:t>
            </a:r>
          </a:p>
          <a:p>
            <a:pPr lvl="0" indent="0" marL="0">
              <a:buNone/>
            </a:pPr>
            <a:r>
              <a:rPr/>
              <a:t>Claude installs </a:t>
            </a:r>
            <a:r>
              <a:rPr>
                <a:latin typeface="Courier"/>
              </a:rPr>
              <a:t>uv</a:t>
            </a:r>
            <a:r>
              <a:rPr/>
              <a:t>, writes </a:t>
            </a:r>
            <a:r>
              <a:rPr>
                <a:latin typeface="Courier"/>
              </a:rPr>
              <a:t>.mcp.json</a:t>
            </a:r>
            <a:r>
              <a:rPr/>
              <a:t>, restarts itself, verifies the connection to your local SQL Server.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Extract Analysis to Markdown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Paste </a:t>
            </a:r>
            <a:r>
              <a:rPr b="1"/>
              <a:t>one prompt</a:t>
            </a:r>
            <a:r>
              <a:rPr/>
              <a:t> — Claude reads both PDFs and produces:</a:t>
            </a:r>
          </a:p>
          <a:p>
            <a:pPr lvl="0" indent="0">
              <a:buNone/>
            </a:pPr>
            <a:r>
              <a:rPr>
                <a:latin typeface="Courier"/>
              </a:rPr>
              <a:t>docs/
├── org-analysis/01-organization.md
├── org-analysis/02-interviews.md
├── org-analysis/03-problems.md
├── org-analysis/04-business-processes.md
├── 00-requirements.md
├── 00e-use-cases.md
└── design/{class,state,sequence}-diagram.md</a:t>
            </a:r>
          </a:p>
          <a:p>
            <a:pPr lvl="0" indent="0" marL="0">
              <a:buNone/>
            </a:pPr>
            <a:r>
              <a:rPr b="1"/>
              <a:t>Then review each file against the PDF.</a:t>
            </a:r>
            <a:r>
              <a:rPr/>
              <a:t> Counts, tables, wording — Claude drifts here.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3 — Generate Your CLAUDE.md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important file in your project. Claude reads every doc + the shared </a:t>
            </a:r>
            <a:r>
              <a:rPr>
                <a:latin typeface="Courier"/>
              </a:rPr>
              <a:t>PATTERNS.md</a:t>
            </a:r>
            <a:r>
              <a:rPr/>
              <a:t> and produces a self-contained </a:t>
            </a:r>
            <a:r>
              <a:rPr>
                <a:latin typeface="Courier"/>
              </a:rPr>
              <a:t>CLAUDE.md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What to verify:</a:t>
            </a:r>
          </a:p>
          <a:p>
            <a:pPr lvl="0"/>
            <a:r>
              <a:rPr/>
              <a:t>Implementation scope matches what you intend to code</a:t>
            </a:r>
          </a:p>
          <a:p>
            <a:pPr lvl="0"/>
            <a:r>
              <a:rPr/>
              <a:t>Entity load order is correct (FK targets come before dependents)</a:t>
            </a:r>
          </a:p>
          <a:p>
            <a:pPr lvl="0"/>
            <a:r>
              <a:rPr/>
              <a:t>Group decisions are real (not invented from the sample)</a:t>
            </a:r>
          </a:p>
          <a:p>
            <a:pPr lvl="0"/>
            <a:r>
              <a:rPr/>
              <a:t>Counts and lists are accurate</a:t>
            </a:r>
          </a:p>
          <a:p>
            <a:pPr lvl="0" indent="0" marL="0">
              <a:buNone/>
            </a:pPr>
            <a:r>
              <a:rPr/>
              <a:t>Don’t fuss about attribute names — the compiler catches those later.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4 — Database Schema + Stored Procedures (25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4.0</a:t>
            </a:r>
            <a:r>
              <a:rPr/>
              <a:t> — Claude creates the project DB via MCP</a:t>
            </a:r>
          </a:p>
          <a:p>
            <a:pPr lvl="0" indent="-342900" marL="342900">
              <a:buAutoNum type="arabicPeriod"/>
            </a:pPr>
            <a:r>
              <a:rPr b="1"/>
              <a:t>4.1</a:t>
            </a:r>
            <a:r>
              <a:rPr/>
              <a:t> — Generate </a:t>
            </a:r>
            <a:r>
              <a:rPr>
                <a:latin typeface="Courier"/>
              </a:rPr>
              <a:t>scripts/create_database.sql</a:t>
            </a:r>
          </a:p>
          <a:p>
            <a:pPr lvl="0" indent="-342900" marL="342900">
              <a:buAutoNum type="arabicPeriod"/>
            </a:pPr>
            <a:r>
              <a:rPr b="1"/>
              <a:t>4.2</a:t>
            </a:r>
            <a:r>
              <a:rPr/>
              <a:t> — Review the schema (manual)</a:t>
            </a:r>
          </a:p>
          <a:p>
            <a:pPr lvl="0" indent="-342900" marL="342900">
              <a:buAutoNum type="arabicPeriod"/>
            </a:pPr>
            <a:r>
              <a:rPr b="1"/>
              <a:t>4.3</a:t>
            </a:r>
            <a:r>
              <a:rPr/>
              <a:t> — Claude runs the schema via MCP</a:t>
            </a:r>
          </a:p>
          <a:p>
            <a:pPr lvl="0" indent="-342900" marL="342900">
              <a:buAutoNum type="arabicPeriod"/>
            </a:pPr>
            <a:r>
              <a:rPr b="1"/>
              <a:t>4.4</a:t>
            </a:r>
            <a:r>
              <a:rPr/>
              <a:t> — Generate </a:t>
            </a:r>
            <a:r>
              <a:rPr>
                <a:latin typeface="Courier"/>
              </a:rPr>
              <a:t>scripts/stored_procedures.sql</a:t>
            </a:r>
            <a:r>
              <a:rPr/>
              <a:t> (CRUD only)</a:t>
            </a:r>
          </a:p>
          <a:p>
            <a:pPr lvl="0" indent="-342900" marL="342900">
              <a:buAutoNum type="arabicPeriod"/>
            </a:pPr>
            <a:r>
              <a:rPr b="1"/>
              <a:t>4.5</a:t>
            </a:r>
            <a:r>
              <a:rPr/>
              <a:t> — Spot-check one entity’s full CRUD cycle</a:t>
            </a:r>
          </a:p>
          <a:p>
            <a:pPr lvl="0" indent="0" marL="0">
              <a:buNone/>
            </a:pPr>
            <a:r>
              <a:rPr/>
              <a:t>PK strategy: </a:t>
            </a:r>
            <a:r>
              <a:rPr b="1"/>
              <a:t>app-side IDs (no </a:t>
            </a:r>
            <a:r>
              <a:rPr b="1">
                <a:latin typeface="Courier"/>
              </a:rPr>
              <a:t>IDENTITY</a:t>
            </a:r>
            <a:r>
              <a:rPr b="1"/>
              <a:t>)</a:t>
            </a:r>
            <a:r>
              <a:rPr/>
              <a:t>. Stored procedures take the PK as a parameter.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4.5 — Seed Test Data (10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</a:t>
            </a:r>
            <a:r>
              <a:rPr>
                <a:latin typeface="Courier"/>
              </a:rPr>
              <a:t>scripts/seed_data.sql</a:t>
            </a:r>
            <a:r>
              <a:rPr/>
              <a:t> covering every role, status, and enum value. Run it via MCP.</a:t>
            </a:r>
          </a:p>
          <a:p>
            <a:pPr lvl="0" indent="0" marL="0">
              <a:buNone/>
            </a:pPr>
            <a:r>
              <a:rPr/>
              <a:t>Why now (before code): so when Phase 5’s </a:t>
            </a:r>
            <a:r>
              <a:rPr>
                <a:latin typeface="Courier"/>
              </a:rPr>
              <a:t>LoginPanel</a:t>
            </a:r>
            <a:r>
              <a:rPr/>
              <a:t> runs, there are actual users to log in 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5 — C# Project Scaffold + Entry Flow (45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5.1</a:t>
            </a:r>
            <a:r>
              <a:rPr/>
              <a:t> — Scaffold (</a:t>
            </a:r>
            <a:r>
              <a:rPr>
                <a:latin typeface="Courier"/>
              </a:rPr>
              <a:t>SharonaPilates.sln</a:t>
            </a:r>
            <a:r>
              <a:rPr/>
              <a:t> + </a:t>
            </a:r>
            <a:r>
              <a:rPr>
                <a:latin typeface="Courier"/>
              </a:rPr>
              <a:t>.csproj</a:t>
            </a:r>
            <a:r>
              <a:rPr/>
              <a:t> matching the sample)</a:t>
            </a:r>
          </a:p>
          <a:p>
            <a:pPr lvl="0" indent="-342900" marL="342900">
              <a:buAutoNum type="arabicPeriod"/>
            </a:pPr>
            <a:r>
              <a:rPr b="1"/>
              <a:t>5.2</a:t>
            </a:r>
            <a:r>
              <a:rPr/>
              <a:t> — </a:t>
            </a:r>
            <a:r>
              <a:rPr>
                <a:latin typeface="Courier"/>
              </a:rPr>
              <a:t>SQL_CON.cs</a:t>
            </a:r>
            <a:r>
              <a:rPr/>
              <a:t> reads connection from </a:t>
            </a:r>
            <a:r>
              <a:rPr>
                <a:latin typeface="Courier"/>
              </a:rPr>
              <a:t>app.config</a:t>
            </a:r>
          </a:p>
          <a:p>
            <a:pPr lvl="0" indent="-342900" marL="342900">
              <a:buAutoNum type="arabicPeriod"/>
            </a:pPr>
            <a:r>
              <a:rPr b="1"/>
              <a:t>5.3</a:t>
            </a:r>
            <a:r>
              <a:rPr/>
              <a:t> — Generate all entity classes + </a:t>
            </a:r>
            <a:r>
              <a:rPr>
                <a:latin typeface="Courier"/>
              </a:rPr>
              <a:t>Program.cs</a:t>
            </a:r>
            <a:r>
              <a:rPr/>
              <a:t> with load order</a:t>
            </a:r>
          </a:p>
          <a:p>
            <a:pPr lvl="0" indent="-342900" marL="342900">
              <a:buAutoNum type="arabicPeriod"/>
            </a:pPr>
            <a:r>
              <a:rPr b="1"/>
              <a:t>5.4</a:t>
            </a:r>
            <a:r>
              <a:rPr/>
              <a:t> — Review entity hydration of object references</a:t>
            </a:r>
          </a:p>
          <a:p>
            <a:pPr lvl="0" indent="-342900" marL="342900">
              <a:buAutoNum type="arabicPeriod"/>
            </a:pPr>
            <a:r>
              <a:rPr b="1"/>
              <a:t>5.5</a:t>
            </a:r>
            <a:r>
              <a:rPr/>
              <a:t> — </a:t>
            </a:r>
            <a:r>
              <a:rPr b="1"/>
              <a:t>Entry flow:</a:t>
            </a:r>
            <a:r>
              <a:rPr/>
              <a:t> Claude inspects actors → designs login + per-role homes</a:t>
            </a:r>
          </a:p>
          <a:p>
            <a:pPr lvl="0" indent="-342900" marL="342900">
              <a:buAutoNum type="arabicPeriod"/>
            </a:pPr>
            <a:r>
              <a:rPr b="1"/>
              <a:t>5.6</a:t>
            </a:r>
            <a:r>
              <a:rPr/>
              <a:t> — Generate the first CRUD panel under the right role home</a:t>
            </a:r>
          </a:p>
          <a:p>
            <a:pPr lvl="0" indent="-342900" marL="342900">
              <a:buAutoNum type="arabicPeriod"/>
            </a:pPr>
            <a:r>
              <a:rPr b="1"/>
              <a:t>5.7</a:t>
            </a:r>
            <a:r>
              <a:rPr/>
              <a:t> — </a:t>
            </a:r>
            <a:r>
              <a:rPr b="1"/>
              <a:t>F5.</a:t>
            </a:r>
            <a:r>
              <a:rPr/>
              <a:t> Login, navigate, CRUD, verify in DB.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5.5 — The Entry Flow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Login is </a:t>
            </a:r>
            <a:r>
              <a:rPr b="1"/>
              <a:t>not</a:t>
            </a:r>
            <a:r>
              <a:rPr/>
              <a:t> a UC, but it </a:t>
            </a:r>
            <a:r>
              <a:rPr b="1"/>
              <a:t>is</a:t>
            </a:r>
            <a:r>
              <a:rPr/>
              <a:t> the first screen.</a:t>
            </a:r>
          </a:p>
          <a:p>
            <a:pPr lvl="0" indent="0" marL="0">
              <a:buNone/>
            </a:pPr>
            <a:r>
              <a:rPr/>
              <a:t>Claude reads the class diagram to find credential-holding entities (e.g., </a:t>
            </a:r>
            <a:r>
              <a:rPr>
                <a:latin typeface="Courier"/>
              </a:rPr>
              <a:t>UserProfile</a:t>
            </a:r>
            <a:r>
              <a:rPr/>
              <a:t>, </a:t>
            </a:r>
            <a:r>
              <a:rPr>
                <a:latin typeface="Courier"/>
              </a:rPr>
              <a:t>Employee</a:t>
            </a:r>
            <a:r>
              <a:rPr/>
              <a:t>). Each becomes a login source. Each routes to its own home panel.</a:t>
            </a:r>
          </a:p>
          <a:p>
            <a:pPr lvl="0" indent="0" marL="0">
              <a:buNone/>
            </a:pPr>
            <a:r>
              <a:rPr/>
              <a:t>Claude proposes the design and waits for your confirmation before writing files.</a:t>
            </a:r>
          </a:p>
          <a:p>
            <a:pPr lvl="0" indent="0" marL="0">
              <a:buNone/>
            </a:pPr>
            <a:r>
              <a:rPr/>
              <a:t>This is where your design diagrams pay off visually — students see actors become routes.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6 — Remaining CRUD Panels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paths, pick one:</a:t>
            </a:r>
          </a:p>
          <a:p>
            <a:pPr lvl="0" indent="0" marL="0">
              <a:buNone/>
            </a:pPr>
            <a:r>
              <a:rPr b="1"/>
              <a:t>Option A — One at a time.</a:t>
            </a:r>
            <a:r>
              <a:rPr/>
              <a:t> Cautious. Generate, review, wire, build. Repeat.</a:t>
            </a:r>
          </a:p>
          <a:p>
            <a:pPr lvl="0" indent="0" marL="0">
              <a:buNone/>
            </a:pPr>
            <a:r>
              <a:rPr b="1"/>
              <a:t>Option B — All at once.</a:t>
            </a:r>
            <a:r>
              <a:rPr/>
              <a:t> Dramatic. One prompt → 8–10 panels in a single batch. Token-cheaper, more impressive demo, but errors propagate.</a:t>
            </a:r>
          </a:p>
          <a:p>
            <a:pPr lvl="0" indent="0" marL="0">
              <a:buNone/>
            </a:pPr>
            <a:r>
              <a:rPr/>
              <a:t>Either way, walk through every panel after generation: build clean, F5 sweep, spot-check one create/update/delete per role.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7 — State Machines (in class if 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CRUD treats entities as bags of fields. State machines introduce:</a:t>
            </a:r>
          </a:p>
          <a:p>
            <a:pPr lvl="0"/>
            <a:r>
              <a:rPr b="1"/>
              <a:t>Guards</a:t>
            </a:r>
            <a:r>
              <a:rPr/>
              <a:t> — not every transition is always legal</a:t>
            </a:r>
          </a:p>
          <a:p>
            <a:pPr lvl="0"/>
            <a:r>
              <a:rPr b="1"/>
              <a:t>Side effects</a:t>
            </a:r>
            <a:r>
              <a:rPr/>
              <a:t> — cancelling a registration frees a slot, refunds a credit, may promote a waitlist</a:t>
            </a:r>
          </a:p>
          <a:p>
            <a:pPr lvl="0"/>
            <a:r>
              <a:rPr b="1"/>
              <a:t>Atomicity</a:t>
            </a:r>
            <a:r>
              <a:rPr/>
              <a:t> — </a:t>
            </a:r>
            <a:r>
              <a:rPr>
                <a:latin typeface="Courier"/>
              </a:rPr>
              <a:t>BEGIN TRAN ... COMMIT</a:t>
            </a:r>
            <a:r>
              <a:rPr/>
              <a:t> so partial failures roll back</a:t>
            </a:r>
          </a:p>
          <a:p>
            <a:pPr lvl="0" indent="0" marL="0">
              <a:buNone/>
            </a:pPr>
            <a:r>
              <a:rPr/>
              <a:t>Where your state diagrams from design class become running code.</a:t>
            </a:r>
          </a:p>
          <a:p>
            <a:pPr lvl="0" indent="0" marL="0">
              <a:buNone/>
            </a:pPr>
            <a:r>
              <a:rPr/>
              <a:t>Each user-triggered transition gets a </a:t>
            </a:r>
            <a:r>
              <a:rPr b="1"/>
              <a:t>verb button</a:t>
            </a:r>
            <a:r>
              <a:rPr/>
              <a:t> (“ביטול הרשמה”), not a generic Update.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Phases 8–11 — 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Documented in </a:t>
            </a:r>
            <a:r>
              <a:rPr>
                <a:latin typeface="Courier"/>
              </a:rPr>
              <a:t>LESSON_STEPS.md</a:t>
            </a:r>
            <a:r>
              <a:rPr/>
              <a:t> with full prompts. Not covered in class:</a:t>
            </a:r>
          </a:p>
          <a:p>
            <a:pPr lvl="0"/>
            <a:r>
              <a:rPr b="1"/>
              <a:t>Phase 8</a:t>
            </a:r>
            <a:r>
              <a:rPr/>
              <a:t> — Reports: read-only, parameterized, aggregated. Different shape from CRUD.</a:t>
            </a:r>
          </a:p>
          <a:p>
            <a:pPr lvl="0"/>
            <a:r>
              <a:rPr b="1"/>
              <a:t>Phase 9</a:t>
            </a:r>
            <a:r>
              <a:rPr/>
              <a:t> — Complex UC flows: multi-entity orchestrated transactions.</a:t>
            </a:r>
          </a:p>
          <a:p>
            <a:pPr lvl="0"/>
            <a:r>
              <a:rPr b="1"/>
              <a:t>Phase 10</a:t>
            </a:r>
            <a:r>
              <a:rPr/>
              <a:t> — UI polish: feed Claude screenshots + references, get richer designs.</a:t>
            </a:r>
          </a:p>
          <a:p>
            <a:pPr lvl="0"/>
            <a:r>
              <a:rPr b="1"/>
              <a:t>Phase 11</a:t>
            </a:r>
            <a:r>
              <a:rPr/>
              <a:t> — Switching to a shared DB (BGU central or free Azure SQL).</a:t>
            </a:r>
          </a:p>
          <a:p>
            <a:pPr lvl="0" indent="0" marL="0">
              <a:buNone/>
            </a:pPr>
            <a:r>
              <a:rPr/>
              <a:t>You have the patterns; you have the tools. Phase 8–11 are just “ask Claude to do X following the same shape.”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Review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errors that </a:t>
            </a:r>
            <a:r>
              <a:rPr b="1"/>
              <a:t>won’t</a:t>
            </a:r>
            <a:r>
              <a:rPr/>
              <a:t> surface later. Skip ones the compiler will catch.</a:t>
            </a:r>
          </a:p>
          <a:p>
            <a:pPr lvl="0" indent="0" marL="0">
              <a:buNone/>
            </a:pPr>
            <a:r>
              <a:rPr b="1"/>
              <a:t>Catch now:</a:t>
            </a:r>
            <a:r>
              <a:rPr/>
              <a:t> - Implementation scope - Load order / FK ordering - Group decisions - Counts and lists - Silent conflicts between documents</a:t>
            </a:r>
          </a:p>
          <a:p>
            <a:pPr lvl="0" indent="0" marL="0">
              <a:buNone/>
            </a:pPr>
            <a:r>
              <a:rPr b="1"/>
              <a:t>Don’t bother:</a:t>
            </a:r>
            <a:r>
              <a:rPr/>
              <a:t> - Attribute names (compile error first time they’re used) - Enum values (same) - Method signatures (same) - Minor wording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With Claude —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Always ask Claude before doing it yourself.</a:t>
            </a:r>
            <a:r>
              <a:rPr/>
              <a:t> File edits, SQL runs, builds — let Claude do the work, you review.</a:t>
            </a:r>
          </a:p>
          <a:p>
            <a:pPr lvl="0" indent="-342900" marL="342900">
              <a:buAutoNum type="arabicPeriod"/>
            </a:pPr>
            <a:r>
              <a:rPr b="1"/>
              <a:t>Push back specifically.</a:t>
            </a:r>
            <a:r>
              <a:rPr/>
              <a:t> “The problems table has 5 rows, the PDF has 10. Re-read pages 3–4 and reconcile.”</a:t>
            </a:r>
          </a:p>
          <a:p>
            <a:pPr lvl="0" indent="-342900" marL="342900">
              <a:buAutoNum type="arabicPeriod"/>
            </a:pPr>
            <a:r>
              <a:rPr b="1"/>
              <a:t>Sources of truth are files, not memory.</a:t>
            </a:r>
            <a:r>
              <a:rPr/>
              <a:t> Persist decisions in </a:t>
            </a:r>
            <a:r>
              <a:rPr>
                <a:latin typeface="Courier"/>
              </a:rPr>
              <a:t>CLAUDE.md</a:t>
            </a:r>
            <a:r>
              <a:rPr/>
              <a:t> so future sessions inherit them.</a:t>
            </a:r>
          </a:p>
          <a:p>
            <a:pPr lvl="0" indent="-342900" marL="342900">
              <a:buAutoNum type="arabicPeriod"/>
            </a:pPr>
            <a:r>
              <a:rPr b="1"/>
              <a:t>Never commit </a:t>
            </a:r>
            <a:r>
              <a:rPr b="1">
                <a:latin typeface="Courier"/>
              </a:rPr>
              <a:t>.mcp.json</a:t>
            </a:r>
            <a:r>
              <a:rPr b="1"/>
              <a:t> or </a:t>
            </a:r>
            <a:r>
              <a:rPr b="1">
                <a:latin typeface="Courier"/>
              </a:rPr>
              <a:t>app.config</a:t>
            </a:r>
            <a:r>
              <a:rPr b="1"/>
              <a:t>.</a:t>
            </a:r>
            <a:r>
              <a:rPr/>
              <a:t> They contain credentials.</a:t>
            </a:r>
          </a:p>
          <a:p>
            <a:pPr lvl="0" indent="-342900" marL="342900">
              <a:buAutoNum type="arabicPeriod"/>
            </a:pPr>
            <a:r>
              <a:rPr b="1"/>
              <a:t>One prompt per concern.</a:t>
            </a:r>
            <a:r>
              <a:rPr/>
              <a:t> If you’re combining “generate this AND change that AND review that AND deploy that,” split it up.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Take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PREREQS.md</a:t>
            </a:r>
            <a:r>
              <a:rPr/>
              <a:t> — install once, never re-install</a:t>
            </a:r>
          </a:p>
          <a:p>
            <a:pPr lvl="0"/>
            <a:r>
              <a:rPr>
                <a:latin typeface="Courier"/>
              </a:rPr>
              <a:t>LESSON_STEPS.md</a:t>
            </a:r>
            <a:r>
              <a:rPr/>
              <a:t> — the full reference, with the </a:t>
            </a:r>
            <a:r>
              <a:rPr i="1"/>
              <a:t>why</a:t>
            </a:r>
            <a:r>
              <a:rPr/>
              <a:t> behind each step</a:t>
            </a:r>
          </a:p>
          <a:p>
            <a:pPr lvl="0"/>
            <a:r>
              <a:rPr>
                <a:latin typeface="Courier"/>
              </a:rPr>
              <a:t>PROMPTS_CHEATSHEET.md</a:t>
            </a:r>
            <a:r>
              <a:rPr/>
              <a:t> — every prompt in copy-paste form</a:t>
            </a:r>
          </a:p>
          <a:p>
            <a:pPr lvl="0"/>
            <a:r>
              <a:rPr/>
              <a:t>Your group’s project, with a working CLAUDE.md and a runnable first panel</a:t>
            </a:r>
          </a:p>
          <a:p>
            <a:pPr lvl="0" indent="0" marL="0">
              <a:buNone/>
            </a:pPr>
            <a:r>
              <a:rPr/>
              <a:t>After class: pick up at Phase 6 (if you didn’t finish), then push through 8–11 over the semester.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Repo: </a:t>
            </a:r>
            <a:r>
              <a:rPr>
                <a:hlinkClick r:id="rId2"/>
              </a:rPr>
              <a:t>https://github.com/dcodish/SAD-sample-project</a:t>
            </a:r>
          </a:p>
          <a:p>
            <a:pPr lvl="0" indent="0" marL="0">
              <a:buNone/>
            </a:pPr>
            <a:r>
              <a:rPr/>
              <a:t>When stuck: paste the error into Claude Code, it has full context. If Claude can’t solve it, the course group chat is your next stop.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Analysis to Running CRUD</dc:title>
  <dc:creator>Software Analysis and Design — BGU</dc:creator>
  <cp:keywords/>
  <dcterms:created xsi:type="dcterms:W3CDTF">2026-05-16T11:59:33Z</dcterms:created>
  <dcterms:modified xsi:type="dcterms:W3CDTF">2026-05-16T11:59:33Z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/>
  </property>
  <property fmtid="{D5CDD505-2E9C-101B-9397-08002B2CF9AE}" pid="3" name="subtitle">
    <vt:lpwstr>Building a System with Claude Code</vt:lpwstr>
  </property>
</Properties>
</file>