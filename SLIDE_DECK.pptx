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9" Type="http://schemas.openxmlformats.org/officeDocument/2006/relationships/viewProps" Target="viewProps.xml" /><Relationship Id="rId2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1" Type="http://schemas.openxmlformats.org/officeDocument/2006/relationships/tableStyles" Target="tableStyles.xml" /><Relationship Id="rId3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From Analysis to Running CRUD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Building a System with Claude Code</a:t>
            </a:r>
            <a:br/>
            <a:br/>
            <a:r>
              <a:rPr/>
              <a:t>Software Analysis and Design — BGU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Goal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 working SQL Server database with seed data</a:t>
            </a:r>
          </a:p>
          <a:p>
            <a:pPr lvl="0"/>
            <a:r>
              <a:rPr/>
              <a:t>A C# WinForms project running on your machine</a:t>
            </a:r>
          </a:p>
          <a:p>
            <a:pPr lvl="0"/>
            <a:r>
              <a:rPr/>
              <a:t>Login screen + 2–3 CRUD screens</a:t>
            </a:r>
          </a:p>
          <a:p>
            <a:pPr lvl="0"/>
            <a:r>
              <a:rPr/>
              <a:t>Everything driven from Claude Code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You Bring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Your group’s Part A + Part B analysis</a:t>
            </a:r>
          </a:p>
          <a:p>
            <a:pPr lvl="0"/>
            <a:r>
              <a:rPr/>
              <a:t>A laptop with all prerequisites installed</a:t>
            </a:r>
          </a:p>
          <a:p>
            <a:pPr lvl="0"/>
            <a:r>
              <a:rPr/>
              <a:t>Your group’s project folder, ready to go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Big Picture — In Class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Project setup + MCP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Extract analysis to markdown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Generate your CLAUDE.md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Database schema + stored procedures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Seed test data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C# scaffold + entry flow + first panel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Remaining CRUD panels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State machines (if time)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Big Picture — Homework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Reports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Complex UC flows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UI polish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Switching to a shared DB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All documented with full prompts in </a:t>
            </a:r>
            <a:r>
              <a:rPr>
                <a:latin typeface="Courier"/>
              </a:rPr>
              <a:t>LESSON_STEPS.md</a:t>
            </a:r>
            <a:r>
              <a:rPr/>
              <a:t>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Three Things Drive This Lesson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Stay in Claude Code.</a:t>
            </a:r>
            <a:r>
              <a:rPr/>
              <a:t> One tool, no bouncing between SSMS / terminal / browser.</a:t>
            </a:r>
          </a:p>
          <a:p>
            <a:pPr lvl="0" indent="0" marL="0">
              <a:buNone/>
            </a:pPr>
            <a:r>
              <a:rPr b="1"/>
              <a:t>Files are the source of truth.</a:t>
            </a:r>
            <a:r>
              <a:rPr/>
              <a:t> Markdown + </a:t>
            </a:r>
            <a:r>
              <a:rPr>
                <a:latin typeface="Courier"/>
              </a:rPr>
              <a:t>.sql</a:t>
            </a:r>
            <a:r>
              <a:rPr/>
              <a:t> in git. The database is a cached projection.</a:t>
            </a:r>
          </a:p>
          <a:p>
            <a:pPr lvl="0" indent="0" marL="0">
              <a:buNone/>
            </a:pPr>
            <a:r>
              <a:rPr b="1"/>
              <a:t>Review what Claude produces.</a:t>
            </a:r>
            <a:r>
              <a:rPr/>
              <a:t> Fast but not careful. Skipping review = silent errors all semester.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Prerequisites (Done Before Class)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 a fresh terminal, all four must succeed:</a:t>
            </a:r>
          </a:p>
          <a:p>
            <a:pPr lvl="0" indent="0">
              <a:buNone/>
            </a:pPr>
            <a:r>
              <a:rPr>
                <a:latin typeface="Courier"/>
              </a:rPr>
              <a:t>dotnet --version
git --version
uvx --version
sqlcmd -L</a:t>
            </a:r>
          </a:p>
          <a:p>
            <a:pPr lvl="0" indent="0" marL="0">
              <a:buNone/>
            </a:pPr>
            <a:r>
              <a:rPr/>
              <a:t>Plus: Claude Code signed in, VS 2025 open, SSMS connects.</a:t>
            </a:r>
          </a:p>
          <a:p>
            <a:pPr lvl="0" indent="0" marL="0">
              <a:buNone/>
            </a:pPr>
            <a:r>
              <a:rPr/>
              <a:t>Full details in </a:t>
            </a:r>
            <a:r>
              <a:rPr>
                <a:latin typeface="Courier"/>
              </a:rPr>
              <a:t>PREREQS.md</a:t>
            </a:r>
            <a:r>
              <a:rPr/>
              <a:t>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Phase 1 — Project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Manual (~5 min):</a:t>
            </a:r>
          </a:p>
          <a:p>
            <a:pPr lvl="0"/>
            <a:r>
              <a:rPr/>
              <a:t>Create your project folder</a:t>
            </a:r>
          </a:p>
          <a:p>
            <a:pPr lvl="0"/>
            <a:r>
              <a:rPr/>
              <a:t>PDFs into </a:t>
            </a:r>
            <a:r>
              <a:rPr>
                <a:latin typeface="Courier"/>
              </a:rPr>
              <a:t>docs/</a:t>
            </a:r>
          </a:p>
          <a:p>
            <a:pPr lvl="0"/>
            <a:r>
              <a:rPr>
                <a:latin typeface="Courier"/>
              </a:rPr>
              <a:t>git clone … cloned</a:t>
            </a:r>
          </a:p>
          <a:p>
            <a:pPr lvl="0"/>
            <a:r>
              <a:rPr>
                <a:latin typeface="Courier"/>
              </a:rPr>
              <a:t>.gitignore</a:t>
            </a:r>
            <a:r>
              <a:rPr/>
              <a:t> → </a:t>
            </a:r>
            <a:r>
              <a:rPr>
                <a:latin typeface="Courier"/>
              </a:rPr>
              <a:t>cloned/</a:t>
            </a:r>
            <a:r>
              <a:rPr/>
              <a:t> + </a:t>
            </a:r>
            <a:r>
              <a:rPr>
                <a:latin typeface="Courier"/>
              </a:rPr>
              <a:t>.mcp.json</a:t>
            </a:r>
          </a:p>
          <a:p>
            <a:pPr lvl="0" indent="0" marL="0">
              <a:buNone/>
            </a:pPr>
            <a:r>
              <a:rPr/>
              <a:t>Then one Claude prompt installs the MCP, verifies the DB connection.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Phase 2 — Extract to Markdown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One prompt, Claude produces:</a:t>
            </a:r>
          </a:p>
          <a:p>
            <a:pPr lvl="0"/>
            <a:r>
              <a:rPr/>
              <a:t>Organization, interviews, problems, BPMNs</a:t>
            </a:r>
          </a:p>
          <a:p>
            <a:pPr lvl="0"/>
            <a:r>
              <a:rPr/>
              <a:t>Requirements + UC specs</a:t>
            </a:r>
          </a:p>
          <a:p>
            <a:pPr lvl="0"/>
            <a:r>
              <a:rPr/>
              <a:t>Design diagrams (class, state, sequence)</a:t>
            </a:r>
          </a:p>
          <a:p>
            <a:pPr lvl="0" indent="0" marL="0">
              <a:buNone/>
            </a:pPr>
            <a:r>
              <a:rPr b="1"/>
              <a:t>Then review each file against the PDF.</a:t>
            </a:r>
            <a:r>
              <a:rPr/>
              <a:t> Counts, tables, wording — Claude drifts here.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Phase 3 — Generate CLAUDE.md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Most important file in your project. Claude inlines </a:t>
            </a:r>
            <a:r>
              <a:rPr>
                <a:latin typeface="Courier"/>
              </a:rPr>
              <a:t>PATTERNS.md</a:t>
            </a:r>
            <a:r>
              <a:rPr/>
              <a:t> + your domain.</a:t>
            </a:r>
          </a:p>
          <a:p>
            <a:pPr lvl="0" indent="0" marL="0">
              <a:buNone/>
            </a:pPr>
            <a:r>
              <a:rPr/>
              <a:t>What to verify:</a:t>
            </a:r>
          </a:p>
          <a:p>
            <a:pPr lvl="0"/>
            <a:r>
              <a:rPr/>
              <a:t>Implementation scope matches what you’ll code</a:t>
            </a:r>
          </a:p>
          <a:p>
            <a:pPr lvl="0"/>
            <a:r>
              <a:rPr/>
              <a:t>Entity load order is correct</a:t>
            </a:r>
          </a:p>
          <a:p>
            <a:pPr lvl="0"/>
            <a:r>
              <a:rPr/>
              <a:t>Group decisions are real (not invented)</a:t>
            </a:r>
          </a:p>
          <a:p>
            <a:pPr lvl="0" indent="0" marL="0">
              <a:buNone/>
            </a:pPr>
            <a:r>
              <a:rPr/>
              <a:t>Don’t fuss over attribute names — compiler catches those later.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Phase 4 — Schema + SPs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Create the project DB (4.0)</a:t>
            </a:r>
          </a:p>
          <a:p>
            <a:pPr lvl="0" indent="-342900" marL="342900">
              <a:buAutoNum type="arabicPeriod"/>
            </a:pPr>
            <a:r>
              <a:rPr/>
              <a:t>Generate </a:t>
            </a:r>
            <a:r>
              <a:rPr>
                <a:latin typeface="Courier"/>
              </a:rPr>
              <a:t>create_database.sql</a:t>
            </a:r>
            <a:r>
              <a:rPr/>
              <a:t> (4.1)</a:t>
            </a:r>
          </a:p>
          <a:p>
            <a:pPr lvl="0" indent="-342900" marL="342900">
              <a:buAutoNum type="arabicPeriod"/>
            </a:pPr>
            <a:r>
              <a:rPr/>
              <a:t>Review against class diagram (4.2)</a:t>
            </a:r>
          </a:p>
          <a:p>
            <a:pPr lvl="0" indent="-342900" marL="342900">
              <a:buAutoNum type="arabicPeriod"/>
            </a:pPr>
            <a:r>
              <a:rPr/>
              <a:t>Run via MCP (4.3)</a:t>
            </a:r>
          </a:p>
          <a:p>
            <a:pPr lvl="0" indent="0" marL="0">
              <a:buNone/>
            </a:pPr>
            <a:r>
              <a:rPr/>
              <a:t>Then SPs:</a:t>
            </a:r>
          </a:p>
          <a:p>
            <a:pPr lvl="0" indent="-342900" marL="342900">
              <a:buAutoNum startAt="5" type="arabicPeriod"/>
            </a:pPr>
            <a:r>
              <a:rPr/>
              <a:t>Generate </a:t>
            </a:r>
            <a:r>
              <a:rPr>
                <a:latin typeface="Courier"/>
              </a:rPr>
              <a:t>stored_procedures.sql</a:t>
            </a:r>
            <a:r>
              <a:rPr/>
              <a:t> (4.4)</a:t>
            </a:r>
          </a:p>
          <a:p>
            <a:pPr lvl="0" indent="-342900" marL="342900">
              <a:buAutoNum startAt="5" type="arabicPeriod"/>
            </a:pPr>
            <a:r>
              <a:rPr/>
              <a:t>Spot-check one entity’s CRUD (4.5)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Phase 4 — Key Conventions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PKs assigned in C#, not by DB.</a:t>
            </a:r>
            <a:r>
              <a:rPr/>
              <a:t> No </a:t>
            </a:r>
            <a:r>
              <a:rPr>
                <a:latin typeface="Courier"/>
              </a:rPr>
              <a:t>IDENTITY</a:t>
            </a:r>
            <a:r>
              <a:rPr/>
              <a:t>.</a:t>
            </a:r>
          </a:p>
          <a:p>
            <a:pPr lvl="0"/>
            <a:r>
              <a:rPr b="1">
                <a:latin typeface="Courier"/>
              </a:rPr>
              <a:t>NVARCHAR</a:t>
            </a:r>
            <a:r>
              <a:rPr b="1"/>
              <a:t>, never </a:t>
            </a:r>
            <a:r>
              <a:rPr b="1">
                <a:latin typeface="Courier"/>
              </a:rPr>
              <a:t>VARCHAR</a:t>
            </a:r>
            <a:r>
              <a:rPr b="1"/>
              <a:t>.</a:t>
            </a:r>
            <a:r>
              <a:rPr/>
              <a:t> Always.</a:t>
            </a:r>
          </a:p>
          <a:p>
            <a:pPr lvl="0"/>
            <a:r>
              <a:rPr b="1"/>
              <a:t>Hebrew literals prefixed </a:t>
            </a:r>
            <a:r>
              <a:rPr b="1">
                <a:latin typeface="Courier"/>
              </a:rPr>
              <a:t>N'...'</a:t>
            </a:r>
            <a:r>
              <a:rPr b="1"/>
              <a:t>.</a:t>
            </a:r>
          </a:p>
          <a:p>
            <a:pPr lvl="0"/>
            <a:r>
              <a:rPr b="1"/>
              <a:t>Every SP takes its PK as a parameter.</a:t>
            </a:r>
            <a:r>
              <a:rPr/>
              <a:t> No </a:t>
            </a:r>
            <a:r>
              <a:rPr>
                <a:latin typeface="Courier"/>
              </a:rPr>
              <a:t>SCOPE_IDENTITY()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These live in </a:t>
            </a:r>
            <a:r>
              <a:rPr>
                <a:latin typeface="Courier"/>
              </a:rPr>
              <a:t>PATTERNS.md</a:t>
            </a:r>
            <a:r>
              <a:rPr/>
              <a:t> and get inlined into your </a:t>
            </a:r>
            <a:r>
              <a:rPr>
                <a:latin typeface="Courier"/>
              </a:rPr>
              <a:t>CLAUDE.md</a:t>
            </a:r>
            <a:r>
              <a:rPr/>
              <a:t>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Phase 4.5 — Seed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Generate </a:t>
            </a:r>
            <a:r>
              <a:rPr>
                <a:latin typeface="Courier"/>
              </a:rPr>
              <a:t>seed_data.sql</a:t>
            </a:r>
            <a:r>
              <a:rPr/>
              <a:t> covering every role, status, and enum.</a:t>
            </a:r>
          </a:p>
          <a:p>
            <a:pPr lvl="0" indent="0" marL="0">
              <a:buNone/>
            </a:pPr>
            <a:r>
              <a:rPr/>
              <a:t>~5–10 rows per base table, ~10–20 for transactional/association tables.</a:t>
            </a:r>
          </a:p>
          <a:p>
            <a:pPr lvl="0" indent="0" marL="0">
              <a:buNone/>
            </a:pPr>
            <a:r>
              <a:rPr b="1"/>
              <a:t>Why now (before code):</a:t>
            </a:r>
            <a:r>
              <a:rPr/>
              <a:t> so when Phase 5’s </a:t>
            </a:r>
            <a:r>
              <a:rPr>
                <a:latin typeface="Courier"/>
              </a:rPr>
              <a:t>LoginPanel</a:t>
            </a:r>
            <a:r>
              <a:rPr/>
              <a:t> runs, there are real users to log in as.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Phase 5 — C# Scaffold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5.1 — </a:t>
            </a:r>
            <a:r>
              <a:rPr>
                <a:latin typeface="Courier"/>
              </a:rPr>
              <a:t>.sln</a:t>
            </a:r>
            <a:r>
              <a:rPr/>
              <a:t> + </a:t>
            </a:r>
            <a:r>
              <a:rPr>
                <a:latin typeface="Courier"/>
              </a:rPr>
              <a:t>.csproj</a:t>
            </a:r>
            <a:r>
              <a:rPr/>
              <a:t> mirroring the sample</a:t>
            </a:r>
          </a:p>
          <a:p>
            <a:pPr lvl="0"/>
            <a:r>
              <a:rPr/>
              <a:t>5.2 — </a:t>
            </a:r>
            <a:r>
              <a:rPr>
                <a:latin typeface="Courier"/>
              </a:rPr>
              <a:t>SQL_CON.cs</a:t>
            </a:r>
            <a:r>
              <a:rPr/>
              <a:t> reading from </a:t>
            </a:r>
            <a:r>
              <a:rPr>
                <a:latin typeface="Courier"/>
              </a:rPr>
              <a:t>app.config</a:t>
            </a:r>
          </a:p>
          <a:p>
            <a:pPr lvl="0"/>
            <a:r>
              <a:rPr/>
              <a:t>5.3 — All entity classes + </a:t>
            </a:r>
            <a:r>
              <a:rPr>
                <a:latin typeface="Courier"/>
              </a:rPr>
              <a:t>Program.cs</a:t>
            </a:r>
            <a:r>
              <a:rPr/>
              <a:t> with load order</a:t>
            </a:r>
          </a:p>
          <a:p>
            <a:pPr lvl="0"/>
            <a:r>
              <a:rPr/>
              <a:t>5.4 — Review entity hydration</a:t>
            </a:r>
          </a:p>
          <a:p>
            <a:pPr lvl="0" indent="0" marL="0">
              <a:buNone/>
            </a:pPr>
            <a:r>
              <a:rPr/>
              <a:t>Build should fail expectedly until 5.5 (no entry point yet).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Phase 5.5 — The Entry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Login is </a:t>
            </a:r>
            <a:r>
              <a:rPr b="1"/>
              <a:t>not</a:t>
            </a:r>
            <a:r>
              <a:rPr/>
              <a:t> a UC. But it </a:t>
            </a:r>
            <a:r>
              <a:rPr b="1"/>
              <a:t>is</a:t>
            </a:r>
            <a:r>
              <a:rPr/>
              <a:t> the first screen.</a:t>
            </a:r>
          </a:p>
          <a:p>
            <a:pPr lvl="0" indent="0" marL="0">
              <a:buNone/>
            </a:pPr>
            <a:r>
              <a:rPr/>
              <a:t>Claude reads the class diagram → finds credential-holding entities → designs login + per-role homes.</a:t>
            </a:r>
          </a:p>
          <a:p>
            <a:pPr lvl="0" indent="0" marL="0">
              <a:buNone/>
            </a:pPr>
            <a:r>
              <a:rPr/>
              <a:t>Claude proposes the design and waits for your confirmation before writing files.</a:t>
            </a:r>
          </a:p>
          <a:p>
            <a:pPr lvl="0" indent="0" marL="0">
              <a:buNone/>
            </a:pPr>
            <a:r>
              <a:rPr/>
              <a:t>Where your design diagrams pay off visually.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Phase 5.6 + 5.7 — First Panel and Run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5.6 — Generate the first CRUD panel for a Tier 1 base entity. Wire under the right role’s home.</a:t>
            </a:r>
          </a:p>
          <a:p>
            <a:pPr lvl="0" indent="0" marL="0">
              <a:buNone/>
            </a:pPr>
            <a:r>
              <a:rPr/>
              <a:t>5.7 — Build, F5, walk through: login → role home → CRUD → verify in DB via MCP.</a:t>
            </a:r>
          </a:p>
          <a:p>
            <a:pPr lvl="0" indent="0" marL="0">
              <a:buNone/>
            </a:pPr>
            <a:r>
              <a:rPr/>
              <a:t>This is the “wow” moment. Login screen, real role routing, working CRUD.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Phase 6 — Remaining CRUDs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Two paths:</a:t>
            </a:r>
          </a:p>
          <a:p>
            <a:pPr lvl="0" indent="0" marL="0">
              <a:buNone/>
            </a:pPr>
            <a:r>
              <a:rPr b="1"/>
              <a:t>Option A — One at a time.</a:t>
            </a:r>
            <a:r>
              <a:rPr/>
              <a:t> Cautious. Generate, review, build, repeat.</a:t>
            </a:r>
          </a:p>
          <a:p>
            <a:pPr lvl="0" indent="0" marL="0">
              <a:buNone/>
            </a:pPr>
            <a:r>
              <a:rPr b="1"/>
              <a:t>Option B — All at once.</a:t>
            </a:r>
            <a:r>
              <a:rPr/>
              <a:t> Dramatic. One prompt → 8–10 panels in one batch.</a:t>
            </a:r>
          </a:p>
          <a:p>
            <a:pPr lvl="0" indent="0" marL="0">
              <a:buNone/>
            </a:pPr>
            <a:r>
              <a:rPr/>
              <a:t>Either way, sweep through every panel after. Spot-check create/update/delete on a couple.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Phase 7 — State Machines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CRUD treats entities as bags of fields. State machines add:</a:t>
            </a:r>
          </a:p>
          <a:p>
            <a:pPr lvl="0"/>
            <a:r>
              <a:rPr b="1"/>
              <a:t>Guards</a:t>
            </a:r>
            <a:r>
              <a:rPr/>
              <a:t> — not every transition is always legal</a:t>
            </a:r>
          </a:p>
          <a:p>
            <a:pPr lvl="0"/>
            <a:r>
              <a:rPr b="1"/>
              <a:t>Side effects</a:t>
            </a:r>
            <a:r>
              <a:rPr/>
              <a:t> — cancel a registration → free slot + refund credit</a:t>
            </a:r>
          </a:p>
          <a:p>
            <a:pPr lvl="0"/>
            <a:r>
              <a:rPr b="1"/>
              <a:t>Atomicity</a:t>
            </a:r>
            <a:r>
              <a:rPr/>
              <a:t> — </a:t>
            </a:r>
            <a:r>
              <a:rPr>
                <a:latin typeface="Courier"/>
              </a:rPr>
              <a:t>BEGIN TRAN … COMMIT</a:t>
            </a:r>
          </a:p>
          <a:p>
            <a:pPr lvl="0" indent="0" marL="0">
              <a:buNone/>
            </a:pPr>
            <a:r>
              <a:rPr/>
              <a:t>Each user-triggered transition gets a verb button, not a generic Update.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Phase 7 — Why It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Your state diagrams from design class become </a:t>
            </a:r>
            <a:r>
              <a:rPr b="1"/>
              <a:t>running code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If you only do CRUD, students can manually set </a:t>
            </a:r>
            <a:r>
              <a:rPr>
                <a:latin typeface="Courier"/>
              </a:rPr>
              <a:t>status = 'Cancelled'</a:t>
            </a:r>
            <a:r>
              <a:rPr/>
              <a:t> and silently skip all guards — broken domain.</a:t>
            </a:r>
          </a:p>
          <a:p>
            <a:pPr lvl="0" indent="0" marL="0">
              <a:buNone/>
            </a:pPr>
            <a:r>
              <a:rPr/>
              <a:t>State machines are where business logic lives in code, not in screens.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Phases 8–11 — 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Documented with full prompts in </a:t>
            </a:r>
            <a:r>
              <a:rPr>
                <a:latin typeface="Courier"/>
              </a:rPr>
              <a:t>LESSON_STEPS.md</a:t>
            </a:r>
            <a:r>
              <a:rPr/>
              <a:t>:</a:t>
            </a:r>
          </a:p>
          <a:p>
            <a:pPr lvl="0"/>
            <a:r>
              <a:rPr b="1"/>
              <a:t>8</a:t>
            </a:r>
            <a:r>
              <a:rPr/>
              <a:t> — Reports (read-only, aggregated, parameterized)</a:t>
            </a:r>
          </a:p>
          <a:p>
            <a:pPr lvl="0"/>
            <a:r>
              <a:rPr b="1"/>
              <a:t>9</a:t>
            </a:r>
            <a:r>
              <a:rPr/>
              <a:t> — Complex UC flows (orchestrated multi-entity transactions)</a:t>
            </a:r>
          </a:p>
          <a:p>
            <a:pPr lvl="0"/>
            <a:r>
              <a:rPr b="1"/>
              <a:t>10</a:t>
            </a:r>
            <a:r>
              <a:rPr/>
              <a:t> — UI polish (feed Claude screenshots, get richer designs)</a:t>
            </a:r>
          </a:p>
          <a:p>
            <a:pPr lvl="0"/>
            <a:r>
              <a:rPr b="1"/>
              <a:t>11</a:t>
            </a:r>
            <a:r>
              <a:rPr/>
              <a:t> — Shared DB (BGU central or free Azure SQL)</a:t>
            </a:r>
          </a:p>
          <a:p>
            <a:pPr lvl="0" indent="0" marL="0">
              <a:buNone/>
            </a:pPr>
            <a:r>
              <a:rPr/>
              <a:t>Same pattern as in-class phases. You have the tools.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Review Discipline — Catch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Errors that </a:t>
            </a:r>
            <a:r>
              <a:rPr b="1"/>
              <a:t>won’t</a:t>
            </a:r>
            <a:r>
              <a:rPr/>
              <a:t> surface later:</a:t>
            </a:r>
          </a:p>
          <a:p>
            <a:pPr lvl="0"/>
            <a:r>
              <a:rPr/>
              <a:t>Implementation scope</a:t>
            </a:r>
          </a:p>
          <a:p>
            <a:pPr lvl="0"/>
            <a:r>
              <a:rPr/>
              <a:t>Load order / FK ordering</a:t>
            </a:r>
          </a:p>
          <a:p>
            <a:pPr lvl="0"/>
            <a:r>
              <a:rPr/>
              <a:t>Group decisions</a:t>
            </a:r>
          </a:p>
          <a:p>
            <a:pPr lvl="0"/>
            <a:r>
              <a:rPr/>
              <a:t>Counts and lists</a:t>
            </a:r>
          </a:p>
          <a:p>
            <a:pPr lvl="0"/>
            <a:r>
              <a:rPr/>
              <a:t>Silent doc conflicts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Review Discipline — Don’t Bother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Errors the compiler catches the moment code references them:</a:t>
            </a:r>
          </a:p>
          <a:p>
            <a:pPr lvl="0"/>
            <a:r>
              <a:rPr/>
              <a:t>Attribute names</a:t>
            </a:r>
          </a:p>
          <a:p>
            <a:pPr lvl="0"/>
            <a:r>
              <a:rPr/>
              <a:t>Enum values</a:t>
            </a:r>
          </a:p>
          <a:p>
            <a:pPr lvl="0"/>
            <a:r>
              <a:rPr/>
              <a:t>Method signatures</a:t>
            </a:r>
          </a:p>
          <a:p>
            <a:pPr lvl="0"/>
            <a:r>
              <a:rPr/>
              <a:t>Minor wording</a:t>
            </a:r>
          </a:p>
          <a:p>
            <a:pPr lvl="0" indent="0" marL="0">
              <a:buNone/>
            </a:pPr>
            <a:r>
              <a:rPr/>
              <a:t>Save your attention for the silent ones.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Working With Claude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Always ask Claude first.</a:t>
            </a:r>
            <a:r>
              <a:rPr/>
              <a:t> Let it do the work, you review.</a:t>
            </a:r>
          </a:p>
          <a:p>
            <a:pPr lvl="0"/>
            <a:r>
              <a:rPr b="1"/>
              <a:t>Push back specifically.</a:t>
            </a:r>
            <a:r>
              <a:rPr/>
              <a:t> Cite source, page, count.</a:t>
            </a:r>
          </a:p>
          <a:p>
            <a:pPr lvl="0"/>
            <a:r>
              <a:rPr b="1"/>
              <a:t>Persist decisions in files.</a:t>
            </a:r>
            <a:r>
              <a:rPr/>
              <a:t> </a:t>
            </a:r>
            <a:r>
              <a:rPr>
                <a:latin typeface="Courier"/>
              </a:rPr>
              <a:t>CLAUDE.md</a:t>
            </a:r>
            <a:r>
              <a:rPr/>
              <a:t> carries forward to every session.</a:t>
            </a:r>
          </a:p>
          <a:p>
            <a:pPr lvl="0"/>
            <a:r>
              <a:rPr b="1"/>
              <a:t>One prompt per concern.</a:t>
            </a:r>
            <a:r>
              <a:rPr/>
              <a:t> Don’t combine “generate, change, deploy” in one prompt.</a:t>
            </a:r>
          </a:p>
          <a:p>
            <a:pPr lvl="0"/>
            <a:r>
              <a:rPr b="1"/>
              <a:t>Never commit </a:t>
            </a:r>
            <a:r>
              <a:rPr b="1">
                <a:latin typeface="Courier"/>
              </a:rPr>
              <a:t>.mcp.json</a:t>
            </a:r>
            <a:r>
              <a:rPr b="1"/>
              <a:t> or </a:t>
            </a:r>
            <a:r>
              <a:rPr b="1">
                <a:latin typeface="Courier"/>
              </a:rPr>
              <a:t>app.config</a:t>
            </a:r>
            <a:r>
              <a:rPr b="1"/>
              <a:t>.</a:t>
            </a:r>
            <a:r>
              <a:rPr/>
              <a:t> Credentials.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Take-Home Materials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>
                <a:latin typeface="Courier"/>
              </a:rPr>
              <a:t>PREREQS.md</a:t>
            </a:r>
            <a:r>
              <a:rPr/>
              <a:t> — install once</a:t>
            </a:r>
          </a:p>
          <a:p>
            <a:pPr lvl="0"/>
            <a:r>
              <a:rPr b="1">
                <a:latin typeface="Courier"/>
              </a:rPr>
              <a:t>LESSON_STEPS.md</a:t>
            </a:r>
            <a:r>
              <a:rPr/>
              <a:t> — full reference with rationale</a:t>
            </a:r>
          </a:p>
          <a:p>
            <a:pPr lvl="0"/>
            <a:r>
              <a:rPr b="1">
                <a:latin typeface="Courier"/>
              </a:rPr>
              <a:t>PROMPTS_CHEATSHEET.md</a:t>
            </a:r>
            <a:r>
              <a:rPr/>
              <a:t> — every prompt in copy-paste form</a:t>
            </a:r>
          </a:p>
          <a:p>
            <a:pPr lvl="0"/>
            <a:r>
              <a:rPr b="1"/>
              <a:t>Your group’s repo</a:t>
            </a:r>
            <a:r>
              <a:rPr/>
              <a:t> — working scaffold, CLAUDE.md, runnable panel</a:t>
            </a:r>
          </a:p>
          <a:p>
            <a:pPr lvl="0" indent="0" marL="0">
              <a:buNone/>
            </a:pPr>
            <a:r>
              <a:rPr/>
              <a:t>After class: pick up where you stopped, then 8–11 over the semester.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Repo: github.com/dcodish/SAD-sample-project</a:t>
            </a:r>
          </a:p>
          <a:p>
            <a:pPr lvl="0" indent="0" marL="0">
              <a:buNone/>
            </a:pPr>
            <a:r>
              <a:rPr/>
              <a:t>When stuck:</a:t>
            </a:r>
          </a:p>
          <a:p>
            <a:pPr lvl="0" indent="-342900" marL="342900">
              <a:buAutoNum type="arabicPeriod"/>
            </a:pPr>
            <a:r>
              <a:rPr/>
              <a:t>Paste the error into Claude Code — full context</a:t>
            </a:r>
          </a:p>
          <a:p>
            <a:pPr lvl="0" indent="-342900" marL="342900">
              <a:buAutoNum type="arabicPeriod"/>
            </a:pPr>
            <a:r>
              <a:rPr/>
              <a:t>Course group chat — second line</a:t>
            </a:r>
          </a:p>
          <a:p>
            <a:pPr lvl="0" indent="-342900" marL="342900">
              <a:buAutoNum type="arabicPeriod"/>
            </a:pPr>
            <a:r>
              <a:rPr/>
              <a:t>Office hours — last resort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Analysis to Running CRUD</dc:title>
  <dc:creator>Software Analysis and Design — BGU</dc:creator>
  <cp:keywords/>
  <dcterms:created xsi:type="dcterms:W3CDTF">2026-05-16T12:03:14Z</dcterms:created>
  <dcterms:modified xsi:type="dcterms:W3CDTF">2026-05-16T12:03:14Z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/>
  </property>
  <property fmtid="{D5CDD505-2E9C-101B-9397-08002B2CF9AE}" pid="3" name="subtitle">
    <vt:lpwstr>Building a System with Claude Code</vt:lpwstr>
  </property>
</Properties>
</file>